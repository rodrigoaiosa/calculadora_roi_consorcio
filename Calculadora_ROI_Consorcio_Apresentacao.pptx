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69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lculadoraroiconsorcio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-731520"/>
            <a:ext cx="3200400" cy="320040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pptx_calculadora/icons/c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791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Consórcio: vale a pena?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calculadora do mercado com CET real, motor mês a mês, probabilidade de sorteio, comparação de administradoras e simulação de investimento imobiliário.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Consórcio </a:t>
            </a:r>
            <a:r>
              <a:rPr lang="en-US" sz="3000" b="1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movimenta</a:t>
            </a: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bilhões</a:t>
            </a: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mas as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calculadoras do mercado simplificam demais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pptx_calculadora/icons/x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22695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1214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mostra parcela x financiamento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investir e comprar à vista, lance e o custo real do dinheiro no tempo.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pptx_calculadora/icons/x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110789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6265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calcula CET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310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taxa de administração nominal, mas não converte isso em um custo efetivo comparável.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home/claude/pptx_calculadora/icons/x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95203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0390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reajuste anual (INCC/IPCA)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15137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a parcela como fixa do início ao fim, o que não reflete a realidade do grupo.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/home/claude/pptx_calculadora/icons/x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793285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6451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distingue lance próprio de embutido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80160" y="49926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estratégias com trade-offs bem diferentes, tratadas como se fossem uma só.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513832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/home/claude/pptx_calculadora/icons/x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634533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5486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compara administradoras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80160" y="583387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simulação fica isolada — não existe um jeito fácil de rankear propostas reais.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calculadora, sete comparações completas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pptx_calculadora/icons/financi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20018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 x Tabela Price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44568" y="1874520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pptx_calculadora/icons/invest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852" y="200180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2936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à Vista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4688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x valorização do bem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39328" y="1874520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/home/claude/pptx_calculadora/icons/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12" y="200180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7696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9328" y="24688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Próprio ou embutido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2735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49808" y="3456432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/home/claude/pptx_calculadora/icons/c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92" y="3583716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8176" y="34381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05079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Efetivo Total anualizado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2735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544568" y="3456432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/home/claude/pptx_calculadora/icons/probabilid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852" y="3583716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2936" y="34381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05079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de contemplação por sorteio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27355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8339328" y="3456432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5" descr="/home/claude/pptx_calculadora/icons/comparad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612" y="3583716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7696" y="34381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CSV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9328" y="405079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administradoras por CET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48554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27"/>
          <p:cNvSpPr/>
          <p:nvPr/>
        </p:nvSpPr>
        <p:spPr>
          <a:xfrm>
            <a:off x="749808" y="5038344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6" descr="/home/claude/pptx_calculadora/icons/cas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092" y="5165628"/>
            <a:ext cx="275783" cy="2757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08176" y="50200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Aluguel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49808" y="56327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 imobiliário como investimento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343400" y="48554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1"/>
          <p:cNvSpPr/>
          <p:nvPr/>
        </p:nvSpPr>
        <p:spPr>
          <a:xfrm>
            <a:off x="4544568" y="5038344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1" name="Image 7" descr="/home/claude/pptx_calculadora/icons/glossari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1852" y="5165628"/>
            <a:ext cx="275783" cy="27578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02936" y="50200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544568" y="56327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termos do setor explicados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138160" y="48554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35"/>
          <p:cNvSpPr/>
          <p:nvPr/>
        </p:nvSpPr>
        <p:spPr>
          <a:xfrm>
            <a:off x="8339328" y="5038344"/>
            <a:ext cx="530352" cy="530352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6" name="Image 8" descr="/home/claude/pptx_calculadora/icons/exportaca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6612" y="5165628"/>
            <a:ext cx="275783" cy="27578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97696" y="502005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8339328" y="56327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em Excel e PDF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1 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 real via TIR </a:t>
            </a:r>
            <a:r>
              <a:rPr lang="en-US" sz="2800" b="1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</a:t>
            </a: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só a taxa nominal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calculadoras mostra a taxa de administração (ex: 17%) e para por aí. A nossa calcula a Taxa Interna de Retorno do fluxo de caixa completo — parcelas pagas x crédito recebido — e anualiza, gerando um número comparável a um financiamento de verdade.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pptx_calculadora/icons/check_ver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3590666"/>
            <a:ext cx="152156" cy="1521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021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cenários: Otimista (mês 1), Conservador (último mês), Personalizado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pptx_calculadora/icons/check_ver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4157594"/>
            <a:ext cx="152156" cy="1521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0690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 avisa quando a TIR matematicamente não converge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654296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/home/claude/pptx_calculadora/icons/check_ver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4724522"/>
            <a:ext cx="152156" cy="1521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46360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automaticamente com a taxa do financiamento equivalente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406640" y="178308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0B1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777240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772400" y="2331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popular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R$ 60.000 · 60 meses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772400" y="31546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8,51%</a:t>
            </a:r>
            <a:endParaRPr lang="en-US" sz="4600" dirty="0"/>
          </a:p>
        </p:txBody>
      </p:sp>
      <p:sp>
        <p:nvSpPr>
          <p:cNvPr id="18" name="Text 13"/>
          <p:cNvSpPr/>
          <p:nvPr/>
        </p:nvSpPr>
        <p:spPr>
          <a:xfrm>
            <a:off x="777240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anualizado (consórcio)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772400" y="4343400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7772400" y="4526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22,43%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7772400" y="5074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 equivalente (1,7% a.m.)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2 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mês a mês, não uma conta só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Calculadoras tradicionais dividem o crédito pelo prazo e param por aí. A nossa simula o grupo mês a mês, com dois efeitos que mudam o custo real ao longo dos anos.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822960" cy="82296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pptx_calculadora/icons/calend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8949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03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Reajuste anual (INCC/IPCA)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12 meses, o saldo devedor e o crédito são reajustados pelo </a:t>
            </a:r>
            <a:r>
              <a:rPr lang="en-US" sz="12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parcela é recalculada, refletindo a realidade do grupo.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233172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583680" y="2697480"/>
            <a:ext cx="822960" cy="82296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pptx_calculadora/icons/dinhei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90" y="28949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703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 sobre saldo decrescente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83680" y="42062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seguro incide sobre o saldo devedor remanescente (que cai mês a </a:t>
            </a:r>
            <a:r>
              <a:rPr lang="en-US" sz="12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o valor cheio do crédito o tempo todo.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3 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 próprio x </a:t>
            </a:r>
            <a:r>
              <a:rPr lang="en-US" sz="2800" b="1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embutido</a:t>
            </a: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trade-offs reais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PRÓPRIO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Dinheiro extra do seu bolso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Crédito recebido continua integral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82219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Gera custo de oportunidade: o quanto esse dinheiro renderia se ficasse investido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53542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Calculado com juros compostos até o fim do prazo original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0B1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EMBUTIDO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496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do próprio crédito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 desembolso extra do bolso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82219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Crédito líquido recebido é menor (parte financia o próprio lance)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53542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 custo de oportunidade — o trade-off é o tamanho do crédito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4 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chance real de ser sorteado?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calculadora tradicional responde isso. A nossa simula, mês a mês, a probabilidade acumulada de contemplação 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depender de lance com base no número de cotas do grupo.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822960" cy="82296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pptx_calculadora/icons/probabi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4893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34290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1 / cotas remanescentes por mês, com probabilidade acumulada calculada como 1 − ∏(1 − p_mês).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0" y="1783080"/>
            <a:ext cx="45720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40664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200 COTAS NO GRUPO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92640" y="2514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0664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30 (acumulada)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9264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0664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60 (acumulada)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92640" y="3520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06640" y="406908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406640" y="4297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para 50% de chance acumulada e mês para 90% também são calculados automaticamente.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5 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administradoras reais, não só cenários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um CSV com propostas de diferentes administradoras e a calculadora rankeia automaticamente 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CET 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 efetivo primeiro.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7863840" cy="21031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Adm.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CET a.a.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Veículo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 Consórcios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Veículo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 Seguro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Imóvel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Rodobens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Imóvel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de mercado (BACEN, mai/2026) inclusos como planilha-modelo pronta para upload.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869680" y="2377440"/>
            <a:ext cx="1371600" cy="137160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/home/claude/pptx_calculadora/icons/compara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2706624"/>
            <a:ext cx="713232" cy="713232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86968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00000"/>
                </a:solidFill>
              </a:rPr>
              <a:t>🏆</a:t>
            </a:r>
            <a:endParaRPr lang="en-US" sz="100" dirty="0"/>
          </a:p>
        </p:txBody>
      </p:sp>
      <p:sp>
        <p:nvSpPr>
          <p:cNvPr id="10" name="Shape 6"/>
          <p:cNvSpPr/>
          <p:nvPr/>
        </p:nvSpPr>
        <p:spPr>
          <a:xfrm>
            <a:off x="8595360" y="41148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8732520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automático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menor CET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6 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 para alugar, não só para usar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calculadora do mercado projeta o consórcio como investimento imobiliário. A nossa simula 3 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completes Pré-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Contemplação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Locação + Parcelas e Renda </a:t>
            </a:r>
            <a:r>
              <a:rPr lang="en-US" sz="13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Líquida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TIR do fluxo de caixa em um horizonte de até 40 anos.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pptx_calculadora/icons/check_ver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3819266"/>
            <a:ext cx="152156" cy="1521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7307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de aluguel, reajuste (IPCA) e valorização como parâmetros separados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315968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/home/claude/pptx_calculadora/icons/check_ver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4386194"/>
            <a:ext cx="152156" cy="1521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2976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mês a mês com gráfico de patrimônio acumulado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882896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/home/claude/pptx_calculadora/icons/check_ver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4953122"/>
            <a:ext cx="152156" cy="1521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48646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total, ROI anualizado e TIR do fluxo de caixa completo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406640" y="1783080"/>
            <a:ext cx="4206240" cy="4023360"/>
          </a:xfrm>
          <a:prstGeom prst="roundRect">
            <a:avLst>
              <a:gd name="adj" fmla="val 2273"/>
            </a:avLst>
          </a:prstGeom>
          <a:solidFill>
            <a:srgbClr val="0B11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7772400" y="205740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/home/claude/pptx_calculadora/icons/ca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019" y="22110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0" y="2788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IMÓVEL R$ 500K, 200 MESES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7772400" y="3337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197%</a:t>
            </a:r>
            <a:endParaRPr lang="en-US" sz="4200" dirty="0"/>
          </a:p>
        </p:txBody>
      </p:sp>
      <p:sp>
        <p:nvSpPr>
          <p:cNvPr id="19" name="Text 13"/>
          <p:cNvSpPr/>
          <p:nvPr/>
        </p:nvSpPr>
        <p:spPr>
          <a:xfrm>
            <a:off x="777240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total em 20 anos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772400" y="4462272"/>
            <a:ext cx="32918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/>
          <p:nvPr/>
        </p:nvSpPr>
        <p:spPr>
          <a:xfrm>
            <a:off x="7772400" y="4617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13,9% a.a.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7772400" y="5138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do fluxo de caixa completo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7 DE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 a simulação para fora da tela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77240" cy="77724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pptx_calculadora/icons/graf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25182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completo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Aba Resumo: todos os parâmetros e os 4 resultados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Aba Projeção Mensal: cronograma mês a mês completo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Cores dinâmicas conforme o sinal do valor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96596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583680" y="2331720"/>
            <a:ext cx="777240" cy="777240"/>
          </a:xfrm>
          <a:prstGeom prst="ellipse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/home/claude/pptx_calculadora/icons/export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18" y="251825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em PDF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3794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Resumo executivo de 1 página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8368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Pronto para enviar a quem vai decidir junto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8368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Gerado sob demanda, sem passos manuais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COMPARATIVO DIRETO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 por recurso, lado a lado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26864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Nossa Calculadora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x financiamento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Investir e comprar à vista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Simulação de 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CET (custo efetivo total)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Reajuste anual + seguro decrescente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 próprio x embutido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de contemplação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Comparador de administradoras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Consórcio imobiliário como investimento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Exportação Excel + PDF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POR TRÁS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só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calculadora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software testado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85900" y="2286000"/>
            <a:ext cx="731520" cy="73152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pptx_calculadora/icons/te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65" y="24615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cobrindo todo o motor de cálculo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320540" y="2286000"/>
            <a:ext cx="731520" cy="73152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pptx_calculadora/icons/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5" y="24615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611880" y="3886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de Python testadas em CI a cada push (3.11 e 3.12)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155180" y="2286000"/>
            <a:ext cx="731520" cy="73152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/home/claude/pptx_calculadora/icons/tipag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745" y="24615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446520" y="3886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tipo — checagem completa com mypy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9659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989820" y="2286000"/>
            <a:ext cx="731520" cy="73152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/home/claude/pptx_calculadora/icons/seguranc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5385" y="24615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9281160" y="3886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código auditável no GitHub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074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cálculo (src/calculations.py) é puro Python — sem dependência do Streamlit — testável e reaproveitável fora da interface web.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14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pptx_calculadora/icons/check_ver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2033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R$ 100 mil ou mais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merecem mais que uma calculadora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parcela.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real, motor mês a mês, probabilidade de sorteio, comparação de administradoras e simulação de investimento imobiliário tudo no mesmo lugar, de graça, em código aberto.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212080"/>
            <a:ext cx="4206240" cy="685800"/>
          </a:xfrm>
          <a:prstGeom prst="roundRect">
            <a:avLst>
              <a:gd name="adj" fmla="val 49333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548640" y="5212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calculadoraroiconsorcio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ROI de Consórcio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1232</Words>
  <Application>Microsoft Office PowerPoint</Application>
  <PresentationFormat>Widescreen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Aiosa</cp:lastModifiedBy>
  <cp:revision>3</cp:revision>
  <dcterms:created xsi:type="dcterms:W3CDTF">2026-08-28T15:05:39Z</dcterms:created>
  <dcterms:modified xsi:type="dcterms:W3CDTF">2026-08-28T18:00:01Z</dcterms:modified>
</cp:coreProperties>
</file>